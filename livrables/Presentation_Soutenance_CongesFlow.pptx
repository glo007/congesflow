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CongésFlow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de gestion des demandes de congés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68680" y="3840480"/>
            <a:ext cx="2926080" cy="0"/>
          </a:xfrm>
          <a:prstGeom prst="line">
            <a:avLst/>
          </a:prstGeom>
          <a:noFill/>
          <a:ln w="38100">
            <a:solidFill>
              <a:srgbClr val="13A8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Soutenance — Titre Professionnel CDA (RNCP niveau 6)
</a:t>
            </a:r>
            <a:pPr indent="0" marL="0">
              <a:buNone/>
            </a:pPr>
            <a:r>
              <a:rPr lang="en-US" sz="1400" dirty="0">
                <a:solidFill>
                  <a:srgbClr val="A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Concepteur Développeur d'Applications · ESTIAM · 2025-2026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[Votre Nom Prénom]  ·  Encadrant : M'hand BOUFALA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Déroulé de la présentation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5544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03720" y="15544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existantes &amp; positionnement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468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fonctionnel &amp; rôles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9360" y="24688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03720" y="2468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383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modélisation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09360" y="33832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03720" y="3383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de l'application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4297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09360" y="4297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03720" y="4297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qualité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" y="5212080"/>
            <a:ext cx="457200" cy="45720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34440" y="5212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des 3 blocs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09360" y="5212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03720" y="5212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processus RH encore trop manuel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B5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
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beaucoup de PME, les congés se gèrent par e-mail et tableurs :
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Erreurs de calcul des soldes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Demandes perdues ou non tracées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Validation managériale informelle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Aucune sécurité sur les données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309360" y="155448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0A1A2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1920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0" y="246888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fiabiliser et fluidifier la gestion des demandes de congés au sein d'une PME, tout en garantissant la sécurité des données et le respect des rôles de l'organisation 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ÉTAT DE L'ART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Solutions existantes &amp; positionnement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743200" cy="713232"/>
          </a:xfrm>
          <a:prstGeom prst="rect">
            <a:avLst/>
          </a:prstGeom>
          <a:solidFill>
            <a:srgbClr val="0B5394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645920"/>
            <a:ext cx="2743200" cy="713232"/>
          </a:xfrm>
          <a:prstGeom prst="rect">
            <a:avLst/>
          </a:prstGeom>
          <a:solidFill>
            <a:srgbClr val="0B5394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64592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SIRH du marché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645920"/>
            <a:ext cx="2743200" cy="713232"/>
          </a:xfrm>
          <a:prstGeom prst="rect">
            <a:avLst/>
          </a:prstGeom>
          <a:solidFill>
            <a:srgbClr val="0B5394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64592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Tableur Excel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869680" y="1645920"/>
            <a:ext cx="2679192" cy="713232"/>
          </a:xfrm>
          <a:prstGeom prst="rect">
            <a:avLst/>
          </a:prstGeom>
          <a:solidFill>
            <a:srgbClr val="0B5394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0" y="1645920"/>
            <a:ext cx="24963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CongésFlow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359152"/>
            <a:ext cx="274320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35915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pour une PME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83280" y="2359152"/>
            <a:ext cx="274320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35915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2359152"/>
            <a:ext cx="274320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359152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869680" y="2359152"/>
            <a:ext cx="2679192" cy="713232"/>
          </a:xfrm>
          <a:prstGeom prst="rect">
            <a:avLst/>
          </a:prstGeom>
          <a:solidFill>
            <a:srgbClr val="E3F4F2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2359152"/>
            <a:ext cx="24963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Auto-hébergé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072384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072384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/ rôles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83280" y="3072384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072384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3072384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072384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869680" y="3072384"/>
            <a:ext cx="2679192" cy="713232"/>
          </a:xfrm>
          <a:prstGeom prst="rect">
            <a:avLst/>
          </a:prstGeom>
          <a:solidFill>
            <a:srgbClr val="E3F4F2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0" y="3072384"/>
            <a:ext cx="24963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RBAC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3785616"/>
            <a:ext cx="274320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785616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soldes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383280" y="3785616"/>
            <a:ext cx="274320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3785616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26480" y="3785616"/>
            <a:ext cx="2743200" cy="71323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785616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869680" y="3785616"/>
            <a:ext cx="2679192" cy="713232"/>
          </a:xfrm>
          <a:prstGeom prst="rect">
            <a:avLst/>
          </a:prstGeom>
          <a:solidFill>
            <a:srgbClr val="E3F4F2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0" y="3785616"/>
            <a:ext cx="24963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4498848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498848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validation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383280" y="4498848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4498848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Intégré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26480" y="4498848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4498848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e-mail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869680" y="4498848"/>
            <a:ext cx="2679192" cy="713232"/>
          </a:xfrm>
          <a:prstGeom prst="rect">
            <a:avLst/>
          </a:prstGeom>
          <a:solidFill>
            <a:srgbClr val="E3F4F2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0" y="4498848"/>
            <a:ext cx="24963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Tracé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Positionnement : un outil léger, ciblé, sécurisé et déployable en interne pour la PME.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PÉRIMÈTRE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Fonctionnalités (MoSCoW) &amp; rôles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583680" cy="4297680"/>
          </a:xfrm>
          <a:prstGeom prst="roundRect">
            <a:avLst>
              <a:gd name="adj" fmla="val 1702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373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3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Périmètre fonctionnel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6035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JWT · poser une demande · calcul jours ouvrés · contrôle du solde · validation manager · pilotage RH des soldes
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d'équipe · tableau de bord · détection des chevauchements
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e-mail · jours fériés · export
</a:t>
            </a:r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 · multi-entreprise · mobile natif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98080" y="1554480"/>
            <a:ext cx="4023360" cy="4297680"/>
          </a:xfrm>
          <a:prstGeom prst="roundRect">
            <a:avLst>
              <a:gd name="adj" fmla="val 1818"/>
            </a:avLst>
          </a:prstGeom>
          <a:solidFill>
            <a:srgbClr val="0A1A2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Rôles (RBAC)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0" y="2240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0" y="258775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pose, consulte, annule ses demandes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0" y="3383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0" y="373075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/ refuse son équipe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0" y="4526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/ Admin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0" y="487375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soldes &amp; supervise tout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application multicouche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63040" y="1645920"/>
            <a:ext cx="6400800" cy="841248"/>
          </a:xfrm>
          <a:prstGeom prst="roundRect">
            <a:avLst>
              <a:gd name="adj" fmla="val 6522"/>
            </a:avLst>
          </a:prstGeom>
          <a:solidFill>
            <a:srgbClr val="0B5394"/>
          </a:solidFill>
          <a:ln/>
        </p:spPr>
      </p:sp>
      <p:sp>
        <p:nvSpPr>
          <p:cNvPr id="5" name="Text 3"/>
          <p:cNvSpPr/>
          <p:nvPr/>
        </p:nvSpPr>
        <p:spPr>
          <a:xfrm>
            <a:off x="1737360" y="171907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37360" y="21031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· Tailwind · React Query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2487168"/>
            <a:ext cx="0" cy="18288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463040" y="2670048"/>
            <a:ext cx="6400800" cy="841248"/>
          </a:xfrm>
          <a:prstGeom prst="roundRect">
            <a:avLst>
              <a:gd name="adj" fmla="val 6522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27432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— FastAPI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312724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RBAC · validation Pydantic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3511296"/>
            <a:ext cx="0" cy="18288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463040" y="3694176"/>
            <a:ext cx="6400800" cy="841248"/>
          </a:xfrm>
          <a:prstGeom prst="roundRect">
            <a:avLst>
              <a:gd name="adj" fmla="val 6522"/>
            </a:avLst>
          </a:prstGeom>
          <a:solidFill>
            <a:srgbClr val="13A89E"/>
          </a:solidFill>
          <a:ln/>
        </p:spPr>
      </p:sp>
      <p:sp>
        <p:nvSpPr>
          <p:cNvPr id="13" name="Text 11"/>
          <p:cNvSpPr/>
          <p:nvPr/>
        </p:nvSpPr>
        <p:spPr>
          <a:xfrm>
            <a:off x="1737360" y="376732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métier (Python)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415137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ouvrés · soldes · machine à états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4535424"/>
            <a:ext cx="0" cy="18288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463040" y="4718304"/>
            <a:ext cx="6400800" cy="841248"/>
          </a:xfrm>
          <a:prstGeom prst="roundRect">
            <a:avLst>
              <a:gd name="adj" fmla="val 6522"/>
            </a:avLst>
          </a:prstGeom>
          <a:solidFill>
            <a:srgbClr val="0A6E63"/>
          </a:solidFill>
          <a:ln/>
        </p:spPr>
      </p:sp>
      <p:sp>
        <p:nvSpPr>
          <p:cNvPr id="17" name="Text 15"/>
          <p:cNvSpPr/>
          <p:nvPr/>
        </p:nvSpPr>
        <p:spPr>
          <a:xfrm>
            <a:off x="1737360" y="4791456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SQLAlchemy → PostgreSQL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517550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préparées · contraintes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21040" y="1645920"/>
            <a:ext cx="3200400" cy="4114800"/>
          </a:xfrm>
          <a:prstGeom prst="roundRect">
            <a:avLst>
              <a:gd name="adj" fmla="val 2286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03920" y="1828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3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&amp; qualité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503920" y="2286000"/>
            <a:ext cx="2834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 + docker-compose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 GitHub Actions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 (main / develop / feature)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pytest + Vitest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Documentation OpenAPI auto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CONCEPTION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Modélisation : 10 diagrammes UML / Merise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pic>
        <p:nvPicPr>
          <p:cNvPr id="5" name="Image 0" descr="/Users/boungoumbimigloirebryan/Desktop/ProjetCda/docs/diagrammes/images/01-contex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97702"/>
            <a:ext cx="1837944" cy="916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3101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852928" y="173736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pic>
        <p:nvPicPr>
          <p:cNvPr id="8" name="Image 1" descr="/Users/boungoumbimigloirebryan/Desktop/ProjetCda/docs/diagrammes/images/02-cas-utilis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405" y="1847088"/>
            <a:ext cx="1654445" cy="1417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98648" y="33101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d'utilisation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065776" y="173736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pic>
        <p:nvPicPr>
          <p:cNvPr id="11" name="Image 2" descr="/Users/boungoumbimigloirebryan/Desktop/ProjetCda/docs/diagrammes/images/03-activite-deman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4404" y="1847088"/>
            <a:ext cx="1100144" cy="1417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11496" y="33101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7278624" y="173736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pic>
        <p:nvPicPr>
          <p:cNvPr id="14" name="Image 3" descr="/Users/boungoumbimigloirebryan/Desktop/ProjetCda/docs/diagrammes/images/04-sequence-cre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2" y="1912540"/>
            <a:ext cx="1837944" cy="128641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324344" y="33101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Séquence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9491472" y="173736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pic>
        <p:nvPicPr>
          <p:cNvPr id="17" name="Image 4" descr="/Users/boungoumbimigloirebryan/Desktop/ProjetCda/docs/diagrammes/images/05-etat-deman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5656" y="1847088"/>
            <a:ext cx="1729033" cy="1417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537192" y="33101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État-transition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640080" y="393192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pic>
        <p:nvPicPr>
          <p:cNvPr id="20" name="Image 5" descr="/Users/boungoumbimigloirebryan/Desktop/ProjetCda/docs/diagrammes/images/06-classe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387" y="4041648"/>
            <a:ext cx="1138786" cy="1417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5800" y="550468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2852928" y="393192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pic>
        <p:nvPicPr>
          <p:cNvPr id="23" name="Image 6" descr="/Users/boungoumbimigloirebryan/Desktop/ProjetCda/docs/diagrammes/images/07-mc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9358" y="4041648"/>
            <a:ext cx="944540" cy="14173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2898648" y="550468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 / Merise</a:t>
            </a:r>
            <a:endParaRPr lang="en-US" sz="1100" dirty="0"/>
          </a:p>
        </p:txBody>
      </p:sp>
      <p:sp>
        <p:nvSpPr>
          <p:cNvPr id="25" name="Shape 16"/>
          <p:cNvSpPr/>
          <p:nvPr/>
        </p:nvSpPr>
        <p:spPr>
          <a:xfrm>
            <a:off x="5065776" y="393192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pic>
        <p:nvPicPr>
          <p:cNvPr id="26" name="Image 7" descr="/Users/boungoumbimigloirebryan/Desktop/ProjetCda/docs/diagrammes/images/08-objet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5889" y="4041648"/>
            <a:ext cx="1657174" cy="14173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111496" y="550468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</a:t>
            </a:r>
            <a:endParaRPr lang="en-US" sz="1100" dirty="0"/>
          </a:p>
        </p:txBody>
      </p:sp>
      <p:sp>
        <p:nvSpPr>
          <p:cNvPr id="28" name="Shape 18"/>
          <p:cNvSpPr/>
          <p:nvPr/>
        </p:nvSpPr>
        <p:spPr>
          <a:xfrm>
            <a:off x="7278624" y="393192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pic>
        <p:nvPicPr>
          <p:cNvPr id="29" name="Image 8" descr="/Users/boungoumbimigloirebryan/Desktop/ProjetCda/docs/diagrammes/images/09-composant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6348" y="4041648"/>
            <a:ext cx="1601952" cy="141732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7324344" y="550468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</a:t>
            </a:r>
            <a:endParaRPr lang="en-US" sz="1100" dirty="0"/>
          </a:p>
        </p:txBody>
      </p:sp>
      <p:sp>
        <p:nvSpPr>
          <p:cNvPr id="31" name="Shape 20"/>
          <p:cNvSpPr/>
          <p:nvPr/>
        </p:nvSpPr>
        <p:spPr>
          <a:xfrm>
            <a:off x="9491472" y="393192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pic>
        <p:nvPicPr>
          <p:cNvPr id="32" name="Image 9" descr="/Users/boungoumbimigloirebryan/Desktop/ProjetCda/docs/diagrammes/images/10-deploiemen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52638" y="4041648"/>
            <a:ext cx="535069" cy="141732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9537192" y="550468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100" dirty="0"/>
          </a:p>
        </p:txBody>
      </p:sp>
      <p:sp>
        <p:nvSpPr>
          <p:cNvPr id="34" name="Text 22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Mermaid / PlantUML versionnées dans le dépôt (docs/diagrammes/). Diagrammes en grand sur les slides suivantes.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CONCEPTION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Diagramme de cas d'utilisation</a:t>
            </a:r>
            <a:endParaRPr lang="en-US" sz="3000" dirty="0"/>
          </a:p>
        </p:txBody>
      </p:sp>
      <p:pic>
        <p:nvPicPr>
          <p:cNvPr id="4" name="Image 0" descr="/Users/boungoumbimigloirebryan/Desktop/ProjetCda/docs/diagrammes/images/02-cas-utilis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5454" y="1463040"/>
            <a:ext cx="5870611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CONCEPTION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conceptuel de données (MCD)</a:t>
            </a:r>
            <a:endParaRPr lang="en-US" sz="3000" dirty="0"/>
          </a:p>
        </p:txBody>
      </p:sp>
      <p:pic>
        <p:nvPicPr>
          <p:cNvPr id="4" name="Image 0" descr="/Users/boungoumbimigloirebryan/Desktop/ProjetCda/docs/diagrammes/images/07-mc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4964" y="1463040"/>
            <a:ext cx="335159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CONCEPTION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Diagramme de classes</a:t>
            </a:r>
            <a:endParaRPr lang="en-US" sz="3000" dirty="0"/>
          </a:p>
        </p:txBody>
      </p:sp>
      <p:pic>
        <p:nvPicPr>
          <p:cNvPr id="4" name="Image 0" descr="/Users/boungoumbimigloirebryan/Desktop/ProjetCda/docs/diagrammes/images/06-clas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0334" y="1463040"/>
            <a:ext cx="404085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CONCEPTION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 de vie d'une demande (état-transition)</a:t>
            </a:r>
            <a:endParaRPr lang="en-US" sz="3000" dirty="0"/>
          </a:p>
        </p:txBody>
      </p:sp>
      <p:pic>
        <p:nvPicPr>
          <p:cNvPr id="4" name="Image 0" descr="/Users/boungoumbimigloirebryan/Desktop/ProjetCda/docs/diagrammes/images/05-etat-deman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3121" y="1463040"/>
            <a:ext cx="613527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Diagramme de déploiement</a:t>
            </a:r>
            <a:endParaRPr lang="en-US" sz="3000" dirty="0"/>
          </a:p>
        </p:txBody>
      </p:sp>
      <p:pic>
        <p:nvPicPr>
          <p:cNvPr id="4" name="Image 0" descr="/Users/boungoumbimigloirebryan/Desktop/ProjetCda/docs/diagrammes/images/10-deploi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1444" y="1463040"/>
            <a:ext cx="189863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CŒUR MÉTIER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Règles métier &amp; machine à états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3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à états d'une demande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228600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13A89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86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3127248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1E7E4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12724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3968496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96849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REFUSÉE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4809744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5B6B7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809744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ANNULÉE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33172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22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valide / −solde</a:t>
            </a:r>
            <a:endParaRPr lang="en-US" sz="1200" dirty="0"/>
          </a:p>
          <a:p>
            <a:pPr indent="0" marL="0">
              <a:lnSpc>
                <a:spcPct val="22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refuse</a:t>
            </a:r>
            <a:endParaRPr lang="en-US" sz="1200" dirty="0"/>
          </a:p>
          <a:p>
            <a:pPr indent="0" marL="0">
              <a:lnSpc>
                <a:spcPct val="22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annule / +solde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55448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1783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3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Logique testable &amp; isolée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228600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A1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compter_jours_ouvres()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exclut samedis et dimanches
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A1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solde_suffisant()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refuse si dépassement
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A1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transition_possible()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bloque les transitions incohérentes
</a:t>
            </a:r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pures → couvertes par des tests unitaires.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SÉCURITÉ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application sécurisée (Bloc 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84248"/>
            <a:ext cx="457200" cy="45720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13055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par jeton signé, serveur sans état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84248"/>
            <a:ext cx="457200" cy="45720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84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13055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hachés, jamais stockés en clair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401568"/>
            <a:ext cx="457200" cy="45720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3154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354787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rôles, autorisations vérifiées côté serveur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01752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401568"/>
            <a:ext cx="457200" cy="45720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3154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354787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préparées → anti-injection SQL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4348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4818888"/>
            <a:ext cx="457200" cy="45720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818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4572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54480" y="496519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Origines restreintes au front autorisé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44348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92240" y="4818888"/>
            <a:ext cx="457200" cy="457200"/>
          </a:xfrm>
          <a:prstGeom prst="ellipse">
            <a:avLst/>
          </a:prstGeom>
          <a:solidFill>
            <a:srgbClr val="0B5394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4818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32320" y="4572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32320" y="496519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Schémas Pydantic sur toutes les entrées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DÉMONSTRATION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L'application en ligne — congesflow-web.onrender.com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pic>
        <p:nvPicPr>
          <p:cNvPr id="5" name="Image 0" descr="/Users/boungoumbimigloirebryan/Desktop/ProjetCda/docs/screenshots/fig13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7672" y="1664208"/>
            <a:ext cx="2779776" cy="1737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3832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26480" y="155448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pic>
        <p:nvPicPr>
          <p:cNvPr id="8" name="Image 1" descr="/Users/boungoumbimigloirebryan/Desktop/ProjetCda/docs/screenshots/fig14-mes-demand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300" y="1664208"/>
            <a:ext cx="2537321" cy="1737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26480" y="33832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salarié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" y="384048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pic>
        <p:nvPicPr>
          <p:cNvPr id="11" name="Image 2" descr="/Users/boungoumbimigloirebryan/Desktop/ProjetCda/docs/screenshots/fig15-valid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672" y="3950208"/>
            <a:ext cx="2779776" cy="1737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80" y="56692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manager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126480" y="384048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pic>
        <p:nvPicPr>
          <p:cNvPr id="14" name="Image 3" descr="/Users/boungoumbimigloirebryan/Desktop/ProjetCda/docs/screenshots/fig16-dash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072" y="3950208"/>
            <a:ext cx="2779776" cy="17373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26480" y="56692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QUALITÉ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&amp; industrialisation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0A1A2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2880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21/21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 vert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6459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0A1A2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3400" y="182880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343400" y="27432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réussite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0A1A2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0" y="182880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046720" y="27432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couches testées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10881360" cy="2103120"/>
          </a:xfrm>
          <a:prstGeom prst="roundRect">
            <a:avLst>
              <a:gd name="adj" fmla="val 3478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3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Stratégie de test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34340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Unitaires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métier (jours ouvrés, soldes, machine à états) — pytest
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API complets : login, création, RBAC, transitions interdites — httpx
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d'affichage — Vitest    ·    CI GitHub Actions à chaque push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RÉFÉRENTIEL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Couverture des 3 blocs de compétences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29000" cy="4023360"/>
          </a:xfrm>
          <a:prstGeom prst="roundRect">
            <a:avLst>
              <a:gd name="adj" fmla="val 2133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3429000" cy="822960"/>
          </a:xfrm>
          <a:prstGeom prst="roundRect">
            <a:avLst>
              <a:gd name="adj" fmla="val 6667"/>
            </a:avLst>
          </a:prstGeom>
          <a:solidFill>
            <a:srgbClr val="0B539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 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sécurisé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React/TS · maquettes Figma · routes par rôle · consommation API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429000" cy="4023360"/>
          </a:xfrm>
          <a:prstGeom prst="roundRect">
            <a:avLst>
              <a:gd name="adj" fmla="val 2133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645920"/>
            <a:ext cx="3429000" cy="82296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73736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 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26280" y="26974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sécurisé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38328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· PostgreSQL · JWT/RBAC · bcrypt · OWASP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429000" cy="4023360"/>
          </a:xfrm>
          <a:prstGeom prst="roundRect">
            <a:avLst>
              <a:gd name="adj" fmla="val 2133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645920"/>
            <a:ext cx="3429000" cy="822960"/>
          </a:xfrm>
          <a:prstGeom prst="roundRect">
            <a:avLst>
              <a:gd name="adj" fmla="val 6667"/>
            </a:avLst>
          </a:prstGeom>
          <a:solidFill>
            <a:srgbClr val="13A89E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173736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 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29600" y="26974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&amp; organisation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338328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· agile/MoSCoW · tests · Docker · CI/CD · Git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perspectives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Application full-stack fonctionnelle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Sécurité conforme aux standards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Démarche de conception complète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Chaîne DevOps en place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EAF1F6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783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2240280"/>
            <a:ext cx="3108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 de jours fériés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Notifications e-mail non faites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Validation à un seul niveau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60020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0A1A2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B9C6D2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7532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75320" y="2240280"/>
            <a:ext cx="30175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Notifications e-mail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Calendrier d'équipe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Jours fériés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 comptable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Application mobile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68680" y="3566160"/>
            <a:ext cx="2743200" cy="0"/>
          </a:xfrm>
          <a:prstGeom prst="line">
            <a:avLst/>
          </a:prstGeom>
          <a:noFill/>
          <a:ln w="381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F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à vos questions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: congesflow-web.onrender.com   ·   Code : github.com/glo007/congesflow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2026-06-13T17:25:54Z</dcterms:created>
  <dcterms:modified xsi:type="dcterms:W3CDTF">2026-06-13T17:25:54Z</dcterms:modified>
</cp:coreProperties>
</file>