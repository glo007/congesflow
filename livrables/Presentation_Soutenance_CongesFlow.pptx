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2F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CongésFlow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22960" y="3108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AF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web de gestion des demandes de congés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68680" y="3840480"/>
            <a:ext cx="2926080" cy="0"/>
          </a:xfrm>
          <a:prstGeom prst="line">
            <a:avLst/>
          </a:prstGeom>
          <a:noFill/>
          <a:ln w="38100">
            <a:solidFill>
              <a:srgbClr val="13A8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114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Soutenance — Titre Professionnel CDA (RNCP niveau 6)
</a:t>
            </a:r>
            <a:pPr indent="0" marL="0">
              <a:buNone/>
            </a:pPr>
            <a:r>
              <a:rPr lang="en-US" sz="1400" dirty="0">
                <a:solidFill>
                  <a:srgbClr val="AF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Concepteur Développeur d'Applications · ESTIAM · 2025-2026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BOUNGOU MBIMI Gloire Bryan  ·  Encadrant : M'hand BOUFALA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Déroulé de la présentation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54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34440" y="15544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problématique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309360" y="155448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6309360" y="1554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903720" y="15544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existantes &amp; positionnement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2468880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34440" y="24688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 fonctionnel &amp; rôles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309360" y="246888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903720" y="24688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technique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40080" y="3383280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383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34440" y="33832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&amp; modélisation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309360" y="338328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6309360" y="3383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903720" y="33832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de l'application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40080" y="4297680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297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34440" y="42976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309360" y="429768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6309360" y="4297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903720" y="42976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&amp; qualité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40080" y="5212080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5212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234440" y="52120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Couverture des 3 blocs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309360" y="521208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2" name="Text 30"/>
          <p:cNvSpPr/>
          <p:nvPr/>
        </p:nvSpPr>
        <p:spPr>
          <a:xfrm>
            <a:off x="6309360" y="5212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903720" y="52120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Bilan &amp; perspectives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CONTEXTE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processus RH encore trop manuel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828800"/>
            <a:ext cx="48463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constat
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beaucoup de PME, les congés se gèrent par e-mail et tableurs :
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Erreurs de calcul des soldes</a:t>
            </a:r>
            <a:endParaRPr lang="en-US" sz="1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Demandes perdues ou non tracées</a:t>
            </a:r>
            <a:endParaRPr lang="en-US" sz="1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Validation managériale informelle</a:t>
            </a:r>
            <a:endParaRPr lang="en-US" sz="1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Aucune sécurité sur les données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309360" y="1554480"/>
            <a:ext cx="5212080" cy="4206240"/>
          </a:xfrm>
          <a:prstGeom prst="roundRect">
            <a:avLst>
              <a:gd name="adj" fmla="val 1739"/>
            </a:avLst>
          </a:prstGeom>
          <a:solidFill>
            <a:srgbClr val="0A1A2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583680" y="192024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Problématique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83680" y="246888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fiabiliser et fluidifier la gestion des demandes de congés au sein d'une PME, tout en garantissant la sécurité des données et le respect des rôles de l'organisation ?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ÉTAT DE L'ART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Solutions existantes &amp; positionnement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2743200" cy="713232"/>
          </a:xfrm>
          <a:prstGeom prst="rect">
            <a:avLst/>
          </a:prstGeom>
          <a:solidFill>
            <a:srgbClr val="0B5394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45920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Critère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83280" y="1645920"/>
            <a:ext cx="2743200" cy="713232"/>
          </a:xfrm>
          <a:prstGeom prst="rect">
            <a:avLst/>
          </a:prstGeom>
          <a:solidFill>
            <a:srgbClr val="0B5394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0" y="1645920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SIRH du marché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26480" y="1645920"/>
            <a:ext cx="2743200" cy="713232"/>
          </a:xfrm>
          <a:prstGeom prst="rect">
            <a:avLst/>
          </a:prstGeom>
          <a:solidFill>
            <a:srgbClr val="0B5394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0" y="1645920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Tableur Excel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869680" y="1645920"/>
            <a:ext cx="2679192" cy="713232"/>
          </a:xfrm>
          <a:prstGeom prst="rect">
            <a:avLst/>
          </a:prstGeom>
          <a:solidFill>
            <a:srgbClr val="0B5394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0" y="1645920"/>
            <a:ext cx="249631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CongésFlow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2359152"/>
            <a:ext cx="2743200" cy="713232"/>
          </a:xfrm>
          <a:prstGeom prst="rect">
            <a:avLst/>
          </a:prstGeom>
          <a:solidFill>
            <a:srgbClr val="F4F8FB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359152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pour une PME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383280" y="2359152"/>
            <a:ext cx="2743200" cy="713232"/>
          </a:xfrm>
          <a:prstGeom prst="rect">
            <a:avLst/>
          </a:prstGeom>
          <a:solidFill>
            <a:srgbClr val="F4F8FB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2359152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Élevé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26480" y="2359152"/>
            <a:ext cx="2743200" cy="713232"/>
          </a:xfrm>
          <a:prstGeom prst="rect">
            <a:avLst/>
          </a:prstGeom>
          <a:solidFill>
            <a:srgbClr val="F4F8FB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2359152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Gratuit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869680" y="2359152"/>
            <a:ext cx="2679192" cy="713232"/>
          </a:xfrm>
          <a:prstGeom prst="rect">
            <a:avLst/>
          </a:prstGeom>
          <a:solidFill>
            <a:srgbClr val="E3F4F2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1120" y="2359152"/>
            <a:ext cx="249631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Auto-hébergé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3072384"/>
            <a:ext cx="27432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072384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/ rôles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383280" y="3072384"/>
            <a:ext cx="27432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0" y="3072384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Oui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126480" y="3072384"/>
            <a:ext cx="27432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7920" y="3072384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869680" y="3072384"/>
            <a:ext cx="2679192" cy="713232"/>
          </a:xfrm>
          <a:prstGeom prst="rect">
            <a:avLst/>
          </a:prstGeom>
          <a:solidFill>
            <a:srgbClr val="E3F4F2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961120" y="3072384"/>
            <a:ext cx="249631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RBAC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3785616"/>
            <a:ext cx="2743200" cy="713232"/>
          </a:xfrm>
          <a:prstGeom prst="rect">
            <a:avLst/>
          </a:prstGeom>
          <a:solidFill>
            <a:srgbClr val="F4F8FB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3785616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des soldes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383280" y="3785616"/>
            <a:ext cx="2743200" cy="713232"/>
          </a:xfrm>
          <a:prstGeom prst="rect">
            <a:avLst/>
          </a:prstGeom>
          <a:solidFill>
            <a:srgbClr val="F4F8FB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0" y="3785616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126480" y="3785616"/>
            <a:ext cx="2743200" cy="713232"/>
          </a:xfrm>
          <a:prstGeom prst="rect">
            <a:avLst/>
          </a:prstGeom>
          <a:solidFill>
            <a:srgbClr val="F4F8FB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17920" y="3785616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Manuel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869680" y="3785616"/>
            <a:ext cx="2679192" cy="713232"/>
          </a:xfrm>
          <a:prstGeom prst="rect">
            <a:avLst/>
          </a:prstGeom>
          <a:solidFill>
            <a:srgbClr val="E3F4F2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1120" y="3785616"/>
            <a:ext cx="249631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40080" y="4498848"/>
            <a:ext cx="27432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4498848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validation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383280" y="4498848"/>
            <a:ext cx="27432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474720" y="4498848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Intégré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126480" y="4498848"/>
            <a:ext cx="27432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217920" y="4498848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e-mail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8869680" y="4498848"/>
            <a:ext cx="2679192" cy="713232"/>
          </a:xfrm>
          <a:prstGeom prst="rect">
            <a:avLst/>
          </a:prstGeom>
          <a:solidFill>
            <a:srgbClr val="E3F4F2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961120" y="4498848"/>
            <a:ext cx="249631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Tracé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40080" y="53949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Positionnement : un outil léger, ciblé, sécurisé et déployable en interne pour la PME.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PÉRIMÈTRE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Fonctionnalités (MoSCoW) &amp; rôles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6583680" cy="4297680"/>
          </a:xfrm>
          <a:prstGeom prst="roundRect">
            <a:avLst>
              <a:gd name="adj" fmla="val 1702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73736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3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Périmètre fonctionnel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6035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JWT · poser une demande · calcul jours ouvrés · contrôle du solde · validation manager · pilotage RH des soldes
</a:t>
            </a:r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calendrier d'équipe · tableau de bord · détection des chevauchements
</a:t>
            </a:r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e-mail · jours fériés · export
</a:t>
            </a:r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WON'T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paie · multi-entreprise · mobile natif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498080" y="1554480"/>
            <a:ext cx="4023360" cy="4297680"/>
          </a:xfrm>
          <a:prstGeom prst="roundRect">
            <a:avLst>
              <a:gd name="adj" fmla="val 1818"/>
            </a:avLst>
          </a:prstGeom>
          <a:solidFill>
            <a:srgbClr val="0A1A2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0" y="17373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Rôles (RBAC)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0" y="22402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Salarié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0" y="2587752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F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pose, consulte, annule ses demandes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772400" y="33832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772400" y="3730752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F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 / refuse son équipe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72400" y="45262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 / Admin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772400" y="4873752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F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gère soldes &amp; supervise tout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application multicouche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463040" y="1645920"/>
            <a:ext cx="6400800" cy="841248"/>
          </a:xfrm>
          <a:prstGeom prst="roundRect">
            <a:avLst>
              <a:gd name="adj" fmla="val 6522"/>
            </a:avLst>
          </a:prstGeom>
          <a:solidFill>
            <a:srgbClr val="0B5394"/>
          </a:solidFill>
          <a:ln/>
        </p:spPr>
      </p:sp>
      <p:sp>
        <p:nvSpPr>
          <p:cNvPr id="5" name="Text 3"/>
          <p:cNvSpPr/>
          <p:nvPr/>
        </p:nvSpPr>
        <p:spPr>
          <a:xfrm>
            <a:off x="1737360" y="1719072"/>
            <a:ext cx="5943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TypeScript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737360" y="210312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 · Tailwind · React Query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63440" y="2487168"/>
            <a:ext cx="0" cy="182880"/>
          </a:xfrm>
          <a:prstGeom prst="line">
            <a:avLst/>
          </a:prstGeom>
          <a:noFill/>
          <a:ln w="19050">
            <a:solidFill>
              <a:srgbClr val="5B6B7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463040" y="2670048"/>
            <a:ext cx="6400800" cy="841248"/>
          </a:xfrm>
          <a:prstGeom prst="roundRect">
            <a:avLst>
              <a:gd name="adj" fmla="val 6522"/>
            </a:avLst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1737360" y="2743200"/>
            <a:ext cx="5943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— FastAPI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737360" y="3127248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· RBAC · validation Pydantic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3511296"/>
            <a:ext cx="0" cy="182880"/>
          </a:xfrm>
          <a:prstGeom prst="line">
            <a:avLst/>
          </a:prstGeom>
          <a:noFill/>
          <a:ln w="19050">
            <a:solidFill>
              <a:srgbClr val="5B6B7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463040" y="3694176"/>
            <a:ext cx="6400800" cy="841248"/>
          </a:xfrm>
          <a:prstGeom prst="roundRect">
            <a:avLst>
              <a:gd name="adj" fmla="val 6522"/>
            </a:avLst>
          </a:prstGeom>
          <a:solidFill>
            <a:srgbClr val="13A89E"/>
          </a:solidFill>
          <a:ln/>
        </p:spPr>
      </p:sp>
      <p:sp>
        <p:nvSpPr>
          <p:cNvPr id="13" name="Text 11"/>
          <p:cNvSpPr/>
          <p:nvPr/>
        </p:nvSpPr>
        <p:spPr>
          <a:xfrm>
            <a:off x="1737360" y="3767328"/>
            <a:ext cx="5943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Logique métier (Python)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737360" y="4151376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jours ouvrés · soldes · machine à états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4535424"/>
            <a:ext cx="0" cy="182880"/>
          </a:xfrm>
          <a:prstGeom prst="line">
            <a:avLst/>
          </a:prstGeom>
          <a:noFill/>
          <a:ln w="19050">
            <a:solidFill>
              <a:srgbClr val="5B6B7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463040" y="4718304"/>
            <a:ext cx="6400800" cy="841248"/>
          </a:xfrm>
          <a:prstGeom prst="roundRect">
            <a:avLst>
              <a:gd name="adj" fmla="val 6522"/>
            </a:avLst>
          </a:prstGeom>
          <a:solidFill>
            <a:srgbClr val="0A6E63"/>
          </a:solidFill>
          <a:ln/>
        </p:spPr>
      </p:sp>
      <p:sp>
        <p:nvSpPr>
          <p:cNvPr id="17" name="Text 15"/>
          <p:cNvSpPr/>
          <p:nvPr/>
        </p:nvSpPr>
        <p:spPr>
          <a:xfrm>
            <a:off x="1737360" y="4791456"/>
            <a:ext cx="5943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 SQLAlchemy → PostgreSQL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737360" y="5175504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requêtes préparées · contraintes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321040" y="1645920"/>
            <a:ext cx="3200400" cy="4114800"/>
          </a:xfrm>
          <a:prstGeom prst="roundRect">
            <a:avLst>
              <a:gd name="adj" fmla="val 2286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503920" y="18288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3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DevOps &amp; qualité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503920" y="2286000"/>
            <a:ext cx="28346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Docker + docker-compose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CI GitHub Actions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 (main / develop / feature)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pytest + Vitest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Documentation OpenAPI auto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CONCEPTION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Modélisation : 10 diagrammes UML / Merise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pic>
        <p:nvPicPr>
          <p:cNvPr id="5" name="Image 0" descr="/Users/boungoumbimigloirebryan/Desktop/ProjetCda/docs/diagrammes/images/01-contex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2097702"/>
            <a:ext cx="1837944" cy="91609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3310128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2852928" y="173736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pic>
        <p:nvPicPr>
          <p:cNvPr id="8" name="Image 1" descr="/Users/boungoumbimigloirebryan/Desktop/ProjetCda/docs/diagrammes/images/02-cas-utilis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405" y="1847088"/>
            <a:ext cx="1654445" cy="14173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898648" y="3310128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d'utilisation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5065776" y="173736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pic>
        <p:nvPicPr>
          <p:cNvPr id="11" name="Image 2" descr="/Users/boungoumbimigloirebryan/Desktop/ProjetCda/docs/diagrammes/images/03-activite-deman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4404" y="1847088"/>
            <a:ext cx="1100144" cy="14173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111496" y="3310128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Activité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7278624" y="173736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pic>
        <p:nvPicPr>
          <p:cNvPr id="14" name="Image 3" descr="/Users/boungoumbimigloirebryan/Desktop/ProjetCda/docs/diagrammes/images/04-sequence-crea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8352" y="1912540"/>
            <a:ext cx="1837944" cy="1286416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7324344" y="3310128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Séquence</a:t>
            </a:r>
            <a:endParaRPr lang="en-US" sz="1100" dirty="0"/>
          </a:p>
        </p:txBody>
      </p:sp>
      <p:sp>
        <p:nvSpPr>
          <p:cNvPr id="16" name="Shape 10"/>
          <p:cNvSpPr/>
          <p:nvPr/>
        </p:nvSpPr>
        <p:spPr>
          <a:xfrm>
            <a:off x="9491472" y="173736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pic>
        <p:nvPicPr>
          <p:cNvPr id="17" name="Image 4" descr="/Users/boungoumbimigloirebryan/Desktop/ProjetCda/docs/diagrammes/images/05-etat-demand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5656" y="1847088"/>
            <a:ext cx="1729033" cy="141732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9537192" y="3310128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État-transition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640080" y="393192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pic>
        <p:nvPicPr>
          <p:cNvPr id="20" name="Image 5" descr="/Users/boungoumbimigloirebryan/Desktop/ProjetCda/docs/diagrammes/images/06-classe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9387" y="4041648"/>
            <a:ext cx="1138786" cy="141732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85800" y="5504688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</a:t>
            </a:r>
            <a:endParaRPr lang="en-US" sz="1100" dirty="0"/>
          </a:p>
        </p:txBody>
      </p:sp>
      <p:sp>
        <p:nvSpPr>
          <p:cNvPr id="22" name="Shape 14"/>
          <p:cNvSpPr/>
          <p:nvPr/>
        </p:nvSpPr>
        <p:spPr>
          <a:xfrm>
            <a:off x="2852928" y="393192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pic>
        <p:nvPicPr>
          <p:cNvPr id="23" name="Image 6" descr="/Users/boungoumbimigloirebryan/Desktop/ProjetCda/docs/diagrammes/images/07-mc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9358" y="4041648"/>
            <a:ext cx="944540" cy="1417320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2898648" y="5504688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MCD / Merise</a:t>
            </a:r>
            <a:endParaRPr lang="en-US" sz="1100" dirty="0"/>
          </a:p>
        </p:txBody>
      </p:sp>
      <p:sp>
        <p:nvSpPr>
          <p:cNvPr id="25" name="Shape 16"/>
          <p:cNvSpPr/>
          <p:nvPr/>
        </p:nvSpPr>
        <p:spPr>
          <a:xfrm>
            <a:off x="5065776" y="393192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pic>
        <p:nvPicPr>
          <p:cNvPr id="26" name="Image 7" descr="/Users/boungoumbimigloirebryan/Desktop/ProjetCda/docs/diagrammes/images/08-objet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65889" y="4041648"/>
            <a:ext cx="1657174" cy="1417320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5111496" y="5504688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Objets</a:t>
            </a:r>
            <a:endParaRPr lang="en-US" sz="1100" dirty="0"/>
          </a:p>
        </p:txBody>
      </p:sp>
      <p:sp>
        <p:nvSpPr>
          <p:cNvPr id="28" name="Shape 18"/>
          <p:cNvSpPr/>
          <p:nvPr/>
        </p:nvSpPr>
        <p:spPr>
          <a:xfrm>
            <a:off x="7278624" y="393192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pic>
        <p:nvPicPr>
          <p:cNvPr id="29" name="Image 8" descr="/Users/boungoumbimigloirebryan/Desktop/ProjetCda/docs/diagrammes/images/09-composants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06348" y="4041648"/>
            <a:ext cx="1601952" cy="1417320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7324344" y="5504688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Composants</a:t>
            </a:r>
            <a:endParaRPr lang="en-US" sz="1100" dirty="0"/>
          </a:p>
        </p:txBody>
      </p:sp>
      <p:sp>
        <p:nvSpPr>
          <p:cNvPr id="31" name="Shape 20"/>
          <p:cNvSpPr/>
          <p:nvPr/>
        </p:nvSpPr>
        <p:spPr>
          <a:xfrm>
            <a:off x="9491472" y="393192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pic>
        <p:nvPicPr>
          <p:cNvPr id="32" name="Image 9" descr="/Users/boungoumbimigloirebryan/Desktop/ProjetCda/docs/diagrammes/images/10-deploiement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52638" y="4041648"/>
            <a:ext cx="535069" cy="1417320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9537192" y="5504688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</a:t>
            </a:r>
            <a:endParaRPr lang="en-US" sz="1100" dirty="0"/>
          </a:p>
        </p:txBody>
      </p:sp>
      <p:sp>
        <p:nvSpPr>
          <p:cNvPr id="34" name="Text 22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Mermaid / PlantUML versionnées dans le dépôt (docs/diagrammes/). Diagrammes en grand sur les slides suivantes.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CONCEPTION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Diagramme de cas d'utilisation</a:t>
            </a:r>
            <a:endParaRPr lang="en-US" sz="3000" dirty="0"/>
          </a:p>
        </p:txBody>
      </p:sp>
      <p:pic>
        <p:nvPicPr>
          <p:cNvPr id="4" name="Image 0" descr="/Users/boungoumbimigloirebryan/Desktop/ProjetCda/docs/diagrammes/images/02-cas-utilis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45454" y="1463040"/>
            <a:ext cx="5870611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CONCEPTION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Modèle conceptuel de données (MCD)</a:t>
            </a:r>
            <a:endParaRPr lang="en-US" sz="3000" dirty="0"/>
          </a:p>
        </p:txBody>
      </p:sp>
      <p:pic>
        <p:nvPicPr>
          <p:cNvPr id="4" name="Image 0" descr="/Users/boungoumbimigloirebryan/Desktop/ProjetCda/docs/diagrammes/images/07-mc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04964" y="1463040"/>
            <a:ext cx="3351592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CONCEPTION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Diagramme de classes</a:t>
            </a:r>
            <a:endParaRPr lang="en-US" sz="3000" dirty="0"/>
          </a:p>
        </p:txBody>
      </p:sp>
      <p:pic>
        <p:nvPicPr>
          <p:cNvPr id="4" name="Image 0" descr="/Users/boungoumbimigloirebryan/Desktop/ProjetCda/docs/diagrammes/images/06-clas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0334" y="1463040"/>
            <a:ext cx="4040853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CONCEPTION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Cycle de vie d'une demande (état-transition)</a:t>
            </a:r>
            <a:endParaRPr lang="en-US" sz="3000" dirty="0"/>
          </a:p>
        </p:txBody>
      </p:sp>
      <p:pic>
        <p:nvPicPr>
          <p:cNvPr id="4" name="Image 0" descr="/Users/boungoumbimigloirebryan/Desktop/ProjetCda/docs/diagrammes/images/05-etat-deman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3121" y="1463040"/>
            <a:ext cx="6135278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Diagramme de déploiement</a:t>
            </a:r>
            <a:endParaRPr lang="en-US" sz="3000" dirty="0"/>
          </a:p>
        </p:txBody>
      </p:sp>
      <p:pic>
        <p:nvPicPr>
          <p:cNvPr id="4" name="Image 0" descr="/Users/boungoumbimigloirebryan/Desktop/ProjetCda/docs/diagrammes/images/10-deploi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31444" y="1463040"/>
            <a:ext cx="1898632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CŒUR MÉTIER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Règles métier &amp; machine à états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394960" cy="4297680"/>
          </a:xfrm>
          <a:prstGeom prst="roundRect">
            <a:avLst>
              <a:gd name="adj" fmla="val 1702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7830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3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Machine à états d'une demande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005840" y="2286000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13A89E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28600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SOUMISE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05840" y="3127248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1E7E4F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312724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VALIDÉE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05840" y="3968496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B23A48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3968496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REFUSÉE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005840" y="4809744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5B6B7B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4809744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ANNULÉE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383280" y="2331720"/>
            <a:ext cx="246888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220000"/>
              </a:lnSpc>
              <a:buNone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valide / −solde</a:t>
            </a:r>
            <a:endParaRPr lang="en-US" sz="1200" dirty="0"/>
          </a:p>
          <a:p>
            <a:pPr indent="0" marL="0">
              <a:lnSpc>
                <a:spcPct val="220000"/>
              </a:lnSpc>
              <a:buNone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refuse</a:t>
            </a:r>
            <a:endParaRPr lang="en-US" sz="1200" dirty="0"/>
          </a:p>
          <a:p>
            <a:pPr indent="0" marL="0">
              <a:lnSpc>
                <a:spcPct val="220000"/>
              </a:lnSpc>
              <a:buNone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annule / +solde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309360" y="1554480"/>
            <a:ext cx="5212080" cy="4297680"/>
          </a:xfrm>
          <a:prstGeom prst="roundRect">
            <a:avLst>
              <a:gd name="adj" fmla="val 1702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83680" y="178308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3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Logique testable &amp; isolée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83680" y="2286000"/>
            <a:ext cx="46634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A1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compter_jours_ouvres()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exclut samedis et dimanches
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A1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solde_suffisant()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refuse si dépassement
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A1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transition_possible()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bloque les transitions incohérentes
</a:t>
            </a:r>
            <a:pPr indent="0" marL="0">
              <a:lnSpc>
                <a:spcPct val="110000"/>
              </a:lnSpc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Fonctions pures → couvertes par des tests unitaires.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SÉCURITÉ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application sécurisée (Bloc 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984248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9842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54480" y="173736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54480" y="2130552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 par jeton signé, serveur sans état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60020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92240" y="1984248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19842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32320" y="173736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32320" y="2130552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Mots de passe hachés, jamais stockés en clair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01752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3401568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4015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54480" y="315468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54480" y="3547872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rôles, autorisations vérifiées côté serveur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17920" y="301752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92240" y="3401568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0" y="34015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132320" y="315468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32320" y="3547872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Requêtes préparées → anti-injection SQL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443484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14400" y="4818888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48188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554480" y="457200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554480" y="4965192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Origines restreintes au front autorisé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17920" y="443484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92240" y="4818888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31" name="Text 29"/>
          <p:cNvSpPr/>
          <p:nvPr/>
        </p:nvSpPr>
        <p:spPr>
          <a:xfrm>
            <a:off x="6492240" y="48188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132320" y="457200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132320" y="4965192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Schémas Pydantic sur toutes les entrées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DÉMONSTRATION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L'application en ligne — congesflow-web.onrender.com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394960" cy="2194560"/>
          </a:xfrm>
          <a:prstGeom prst="roundRect">
            <a:avLst>
              <a:gd name="adj" fmla="val 3333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pic>
        <p:nvPicPr>
          <p:cNvPr id="5" name="Image 0" descr="/Users/boungoumbimigloirebryan/Desktop/ProjetCda/docs/screenshots/fig13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7672" y="1664208"/>
            <a:ext cx="2779776" cy="1737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338328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126480" y="1554480"/>
            <a:ext cx="5394960" cy="2194560"/>
          </a:xfrm>
          <a:prstGeom prst="roundRect">
            <a:avLst>
              <a:gd name="adj" fmla="val 3333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pic>
        <p:nvPicPr>
          <p:cNvPr id="8" name="Image 1" descr="/Users/boungoumbimigloirebryan/Desktop/ProjetCda/docs/screenshots/fig14-mes-demand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0673" y="1664208"/>
            <a:ext cx="2426575" cy="17373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126480" y="338328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Espace salarié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3840480"/>
            <a:ext cx="5394960" cy="2194560"/>
          </a:xfrm>
          <a:prstGeom prst="roundRect">
            <a:avLst>
              <a:gd name="adj" fmla="val 3333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pic>
        <p:nvPicPr>
          <p:cNvPr id="11" name="Image 2" descr="/Users/boungoumbimigloirebryan/Desktop/ProjetCda/docs/screenshots/fig15-valid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7672" y="3950208"/>
            <a:ext cx="2779776" cy="17373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40080" y="566928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manager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6126480" y="3840480"/>
            <a:ext cx="5394960" cy="2194560"/>
          </a:xfrm>
          <a:prstGeom prst="roundRect">
            <a:avLst>
              <a:gd name="adj" fmla="val 3333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pic>
        <p:nvPicPr>
          <p:cNvPr id="14" name="Image 3" descr="/Users/boungoumbimigloirebryan/Desktop/ProjetCda/docs/screenshots/fig16-dashbo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34072" y="3950208"/>
            <a:ext cx="2779776" cy="173736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126480" y="566928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de bord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QUALITÉ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Tests &amp; industrialisation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0A1A2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828800"/>
            <a:ext cx="3429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21/21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3429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au vert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43400" y="164592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0A1A2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43400" y="1828800"/>
            <a:ext cx="3429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343400" y="2743200"/>
            <a:ext cx="3429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réussite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46720" y="164592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0A1A2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46720" y="1828800"/>
            <a:ext cx="3429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8046720" y="2743200"/>
            <a:ext cx="3429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couches testées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749040"/>
            <a:ext cx="10881360" cy="2103120"/>
          </a:xfrm>
          <a:prstGeom prst="roundRect">
            <a:avLst>
              <a:gd name="adj" fmla="val 3478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4400" y="393192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3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Stratégie de test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14400" y="4343400"/>
            <a:ext cx="103327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Unitaires  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logique métier (jours ouvrés, soldes, machine à états) — pytest
</a:t>
            </a:r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 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 API complets : login, création, RBAC, transitions interdites — httpx
</a:t>
            </a:r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 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fonctions d'affichage — Vitest    ·    CI GitHub Actions à chaque push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RÉFÉRENTIEL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Couverture des 3 blocs de compétences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429000" cy="4023360"/>
          </a:xfrm>
          <a:prstGeom prst="roundRect">
            <a:avLst>
              <a:gd name="adj" fmla="val 2133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45920"/>
            <a:ext cx="3429000" cy="822960"/>
          </a:xfrm>
          <a:prstGeom prst="roundRect">
            <a:avLst>
              <a:gd name="adj" fmla="val 6667"/>
            </a:avLst>
          </a:prstGeom>
          <a:solidFill>
            <a:srgbClr val="0B5394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737360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 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3063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Front-end sécurisé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3383280"/>
            <a:ext cx="2971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React/TS · maquettes Figma · routes par rôle · consommation API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43400" y="1645920"/>
            <a:ext cx="3429000" cy="4023360"/>
          </a:xfrm>
          <a:prstGeom prst="roundRect">
            <a:avLst>
              <a:gd name="adj" fmla="val 2133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645920"/>
            <a:ext cx="3429000" cy="822960"/>
          </a:xfrm>
          <a:prstGeom prst="roundRect">
            <a:avLst>
              <a:gd name="adj" fmla="val 6667"/>
            </a:avLst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4343400" y="1737360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 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526280" y="2697480"/>
            <a:ext cx="3063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Back-end sécurisé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0" y="3383280"/>
            <a:ext cx="2971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FastAPI · PostgreSQL · JWT/RBAC · bcrypt · OWASP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1645920"/>
            <a:ext cx="3429000" cy="4023360"/>
          </a:xfrm>
          <a:prstGeom prst="roundRect">
            <a:avLst>
              <a:gd name="adj" fmla="val 2133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0" y="1645920"/>
            <a:ext cx="3429000" cy="822960"/>
          </a:xfrm>
          <a:prstGeom prst="roundRect">
            <a:avLst>
              <a:gd name="adj" fmla="val 6667"/>
            </a:avLst>
          </a:prstGeom>
          <a:solidFill>
            <a:srgbClr val="13A89E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0" y="1737360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 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229600" y="2697480"/>
            <a:ext cx="3063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&amp; organisation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75320" y="3383280"/>
            <a:ext cx="2971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UML · agile/MoSCoW · tests · Docker · CI/CD · Git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 &amp; perspectives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7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Acquis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240280"/>
            <a:ext cx="3108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Application full-stack fonctionnelle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Sécurité conforme aux standards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Démarche de conception complète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Chaîne DevOps en place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160020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0" y="1783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0" y="2240280"/>
            <a:ext cx="3108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Pas de jours fériés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Notifications e-mail non faites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Validation à un seul niveau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46720" y="1600200"/>
            <a:ext cx="3474720" cy="4114800"/>
          </a:xfrm>
          <a:prstGeom prst="roundRect">
            <a:avLst>
              <a:gd name="adj" fmla="val 2105"/>
            </a:avLst>
          </a:prstGeom>
          <a:solidFill>
            <a:srgbClr val="0A1A2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75320" y="17830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Perspectives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75320" y="2240280"/>
            <a:ext cx="30175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Notifications e-mail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Calendrier d'équipe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Jours fériés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Export comptable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Application mobile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1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5603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de votre attention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868680" y="3566160"/>
            <a:ext cx="2743200" cy="0"/>
          </a:xfrm>
          <a:prstGeom prst="line">
            <a:avLst/>
          </a:prstGeom>
          <a:noFill/>
          <a:ln w="38100">
            <a:solidFill>
              <a:srgbClr val="13A8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37490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AF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à vos questions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: congesflow-web.onrender.com   ·   Code : github.com/glo007/congesflow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2026-07-09T11:46:11Z</dcterms:created>
  <dcterms:modified xsi:type="dcterms:W3CDTF">2026-07-09T11:46:11Z</dcterms:modified>
</cp:coreProperties>
</file>