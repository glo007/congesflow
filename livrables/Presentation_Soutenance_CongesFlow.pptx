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2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CongésFlow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08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de gestion des demandes de congés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840480"/>
            <a:ext cx="2926080" cy="0"/>
          </a:xfrm>
          <a:prstGeom prst="line">
            <a:avLst/>
          </a:prstGeom>
          <a:noFill/>
          <a:ln w="38100">
            <a:solidFill>
              <a:srgbClr val="13A8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114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— Titre Professionnel CDA (RNCP niveau 6)
</a:t>
            </a:r>
            <a:pPr indent="0" marL="0">
              <a:buNone/>
            </a:pPr>
            <a:r>
              <a:rPr lang="en-US" sz="14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Concepteur Développeur d'Applications · ESTIAM · 2025-2026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[Votre Nom Prénom]  ·  Encadrant : M'hand BOUFALA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Déroulé de la présentation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problématique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existantes &amp; positionnement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2468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fonctionnel &amp; rôles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09360" y="24688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903720" y="2468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3383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modélisation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03720" y="33832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de l'application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" y="42976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34440" y="4297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309360" y="42976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903720" y="42976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qualité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34440" y="5212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3 blocs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09360" y="52120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03720" y="5212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&amp; perspectives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processus RH encore trop manuel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2880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beaucoup de PME, les congés se gèrent par e-mail et tableurs :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Erreurs de calcul des soldes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Demandes perdues ou non tracées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Validation managériale informelle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Aucune sécurité sur les données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309360" y="1554480"/>
            <a:ext cx="5212080" cy="4206240"/>
          </a:xfrm>
          <a:prstGeom prst="roundRect">
            <a:avLst>
              <a:gd name="adj" fmla="val 1739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0" y="19202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Problématique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0" y="246888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fiabiliser et fluidifier la gestion des demandes de congés au sein d'une PME, tout en garantissant la sécurité des données et le respect des rôles de l'organisation 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ÉTAT DE L'ART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Solutions existantes &amp; positionnement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743200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645920"/>
            <a:ext cx="2743200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0" y="164592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SIRH du marché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26480" y="1645920"/>
            <a:ext cx="2743200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645920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Tableur Excel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869680" y="1645920"/>
            <a:ext cx="2679192" cy="713232"/>
          </a:xfrm>
          <a:prstGeom prst="rect">
            <a:avLst/>
          </a:prstGeom>
          <a:solidFill>
            <a:srgbClr val="0B5394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0" y="1645920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CongésFlow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359152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359152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pour une PME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83280" y="2359152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359152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Élevé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26480" y="2359152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2359152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69680" y="2359152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0" y="2359152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Auto-hébergé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072384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072384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/ rôles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83280" y="3072384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3072384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26480" y="3072384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072384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869680" y="3072384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61120" y="3072384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RBAC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3785616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785616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soldes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383280" y="3785616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785616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126480" y="3785616"/>
            <a:ext cx="2743200" cy="713232"/>
          </a:xfrm>
          <a:prstGeom prst="rect">
            <a:avLst/>
          </a:prstGeom>
          <a:solidFill>
            <a:srgbClr val="F4F8FB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3785616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869680" y="3785616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0" y="3785616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4498848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4498848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validation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383280" y="4498848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4498848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Intégré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126480" y="4498848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0" y="4498848"/>
            <a:ext cx="2560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e-mail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869680" y="4498848"/>
            <a:ext cx="2679192" cy="713232"/>
          </a:xfrm>
          <a:prstGeom prst="rect">
            <a:avLst/>
          </a:prstGeom>
          <a:solidFill>
            <a:srgbClr val="E3F4F2"/>
          </a:solidFill>
          <a:ln w="12700">
            <a:solidFill>
              <a:srgbClr val="DCE6E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61120" y="4498848"/>
            <a:ext cx="249631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Tracé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Positionnement : un outil léger, ciblé, sécurisé et déployable en interne pour la PME.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PÉRIMÈTRE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Fonctionnalités (MoSCoW) &amp; rôles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6583680" cy="4297680"/>
          </a:xfrm>
          <a:prstGeom prst="roundRect">
            <a:avLst>
              <a:gd name="adj" fmla="val 1702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3736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Périmètre fonctionnel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6035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JWT · poser une demande · calcul jours ouvrés · contrôle du solde · validation manager · pilotage RH des soldes
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 d'équipe · tableau de bord · détection des chevauchements
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e-mail · jours fériés · export
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 · multi-entreprise · mobile natif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498080" y="1554480"/>
            <a:ext cx="4023360" cy="4297680"/>
          </a:xfrm>
          <a:prstGeom prst="roundRect">
            <a:avLst>
              <a:gd name="adj" fmla="val 1818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0" y="17373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Rôles (RBAC)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0" y="2240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0" y="2587752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pose, consulte, annule ses demandes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0" y="3383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0" y="3730752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 / refuse son équipe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0" y="4526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/ Admin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0" y="4873752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soldes &amp; supervise tout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application multicouche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63040" y="1645920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0B5394"/>
          </a:solidFill>
          <a:ln/>
        </p:spPr>
      </p:sp>
      <p:sp>
        <p:nvSpPr>
          <p:cNvPr id="5" name="Text 3"/>
          <p:cNvSpPr/>
          <p:nvPr/>
        </p:nvSpPr>
        <p:spPr>
          <a:xfrm>
            <a:off x="1737360" y="1719072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37360" y="21031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· Tailwind · React Query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2487168"/>
            <a:ext cx="0" cy="182880"/>
          </a:xfrm>
          <a:prstGeom prst="line">
            <a:avLst/>
          </a:prstGeom>
          <a:noFill/>
          <a:ln w="19050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463040" y="2670048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1737360" y="2743200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— FastAPI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737360" y="312724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· RBAC · validation Pydantic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3511296"/>
            <a:ext cx="0" cy="182880"/>
          </a:xfrm>
          <a:prstGeom prst="line">
            <a:avLst/>
          </a:prstGeom>
          <a:noFill/>
          <a:ln w="19050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463040" y="3694176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13A89E"/>
          </a:solidFill>
          <a:ln/>
        </p:spPr>
      </p:sp>
      <p:sp>
        <p:nvSpPr>
          <p:cNvPr id="13" name="Text 11"/>
          <p:cNvSpPr/>
          <p:nvPr/>
        </p:nvSpPr>
        <p:spPr>
          <a:xfrm>
            <a:off x="1737360" y="3767328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métier (Python)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4151376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 ouvrés · soldes · machine à états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4535424"/>
            <a:ext cx="0" cy="182880"/>
          </a:xfrm>
          <a:prstGeom prst="line">
            <a:avLst/>
          </a:prstGeom>
          <a:noFill/>
          <a:ln w="19050">
            <a:solidFill>
              <a:srgbClr val="5B6B7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463040" y="4718304"/>
            <a:ext cx="6400800" cy="841248"/>
          </a:xfrm>
          <a:prstGeom prst="roundRect">
            <a:avLst>
              <a:gd name="adj" fmla="val 6522"/>
            </a:avLst>
          </a:prstGeom>
          <a:solidFill>
            <a:srgbClr val="0A6E63"/>
          </a:solidFill>
          <a:ln/>
        </p:spPr>
      </p:sp>
      <p:sp>
        <p:nvSpPr>
          <p:cNvPr id="17" name="Text 15"/>
          <p:cNvSpPr/>
          <p:nvPr/>
        </p:nvSpPr>
        <p:spPr>
          <a:xfrm>
            <a:off x="1737360" y="4791456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SQLAlchemy → PostgreSQL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7360" y="5175504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préparées · contraintes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21040" y="1645920"/>
            <a:ext cx="3200400" cy="4114800"/>
          </a:xfrm>
          <a:prstGeom prst="roundRect">
            <a:avLst>
              <a:gd name="adj" fmla="val 228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03920" y="18288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 &amp; qualité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03920" y="2286000"/>
            <a:ext cx="28346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Docker + docker-compose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 GitHub Actions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(main / develop / feature)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pytest + Vitest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Documentation OpenAPI auto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CONCEPTION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Modélisation UML &amp; données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8424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64592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d'utilisation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64592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98424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212080" y="164592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Séquence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164592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75320" y="198424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827532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915400" y="164592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335584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33558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08760" y="301752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État-transition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343400" y="301752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0" y="335584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33558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12080" y="301752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 / MLD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46720" y="301752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75320" y="335584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275320" y="33558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915400" y="301752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&amp; déploiement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4846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diagrammes produits — sources Mermaid / PlantUML dans le dépôt (docs/diagrammes/).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534924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F4F8FB"/>
          </a:solidFill>
          <a:ln w="19050">
            <a:solidFill>
              <a:srgbClr val="0B5394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22960" y="53492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CAPTURE D'ÉCRAN À INSÉRER
</a:t>
            </a:r>
            <a:pPr algn="ctr"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Conseil : insérez ici votre diagramme de classes ou votre MCD (image exportée).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CŒUR MÉTIER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Règles métier &amp; machine à états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à états d'une demande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05840" y="228600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3A89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2860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SOUMISE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127248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E7E4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VALIDÉE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3968496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968496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REFUSÉE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05840" y="4809744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5B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4809744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ANNULÉE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2331720"/>
            <a:ext cx="24688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22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valide / −solde</a:t>
            </a:r>
            <a:endParaRPr lang="en-US" sz="1200" dirty="0"/>
          </a:p>
          <a:p>
            <a:pPr indent="0" marL="0">
              <a:lnSpc>
                <a:spcPct val="22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refuse</a:t>
            </a:r>
            <a:endParaRPr lang="en-US" sz="1200" dirty="0"/>
          </a:p>
          <a:p>
            <a:pPr indent="0" marL="0">
              <a:lnSpc>
                <a:spcPct val="22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annule / +solde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155448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Logique testable &amp; isolée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286000"/>
            <a:ext cx="4663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1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compter_jours_ouvres()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exclut samedis et dimanches
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1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solde_suffisant()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refuse si dépassement
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1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transition_possible()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bloque les transitions incohérentes
</a:t>
            </a:r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pures → couvertes par des tests unitaires.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SÉCURITÉ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application sécurisée (Bloc 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8424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213055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par jeton signé, serveur sans état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198424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32320" y="213055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Mots de passe hachés, jamais stockés en clair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01752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40156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1546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35478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rôles, autorisations vérifiées côté serveur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01752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340156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31546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32320" y="354787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préparées → anti-injection SQL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4348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481888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818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554480" y="45720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54480" y="496519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Origines restreintes au front autorisé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17920" y="443484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92240" y="4818888"/>
            <a:ext cx="457200" cy="45720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4818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32320" y="45720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32320" y="496519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Schémas Pydantic sur toutes les entrées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DÉMONSTRATION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L'application en fonctionnement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4F8FB"/>
          </a:solidFill>
          <a:ln w="19050">
            <a:solidFill>
              <a:srgbClr val="0B539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822960" y="160020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CAPTURE D'ÉCRAN À INSÉRER
</a:t>
            </a:r>
            <a:pPr algn="ctr"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Écran de connexion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26480" y="160020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4F8FB"/>
          </a:solidFill>
          <a:ln w="19050">
            <a:solidFill>
              <a:srgbClr val="0B5394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309360" y="160020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CAPTURE D'ÉCRAN À INSÉRER
</a:t>
            </a:r>
            <a:pPr algn="ctr"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salarié (soldes + demande)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8620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4F8FB"/>
          </a:solidFill>
          <a:ln w="19050">
            <a:solidFill>
              <a:srgbClr val="0B5394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822960" y="388620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CAPTURE D'ÉCRAN À INSÉRER
</a:t>
            </a:r>
            <a:pPr algn="ctr"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de validation manager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388620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F4F8FB"/>
          </a:solidFill>
          <a:ln w="19050">
            <a:solidFill>
              <a:srgbClr val="0B5394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6309360" y="388620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CAPTURE D'ÉCRAN À INSÉRER
</a:t>
            </a:r>
            <a:pPr algn="ctr"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Swagger de l'API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QUALITÉ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&amp; industrialisation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288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 vert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6459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3400" y="18288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343400" y="274320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réussite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1828800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046720" y="274320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couches testées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49040"/>
            <a:ext cx="10881360" cy="2103120"/>
          </a:xfrm>
          <a:prstGeom prst="roundRect">
            <a:avLst>
              <a:gd name="adj" fmla="val 3478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3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Stratégie de test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434340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Unitaires 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métier (jours ouvrés, soldes, machine à états) — pytest
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API complets : login, création, RBAC, transitions interdites — httpx
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d'affichage — Vitest    ·    CI GitHub Actions à chaque push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RÉFÉRENTIEL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Couverture des 3 blocs de compétences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0B539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3736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sécurisé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React/TS · maquettes Figma · routes par rôle · consommation API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645920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173736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 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26280" y="26974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sécurisé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0" y="338328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 · PostgreSQL · JWT/RBAC · bcrypt · OWASP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429000" cy="4023360"/>
          </a:xfrm>
          <a:prstGeom prst="roundRect">
            <a:avLst>
              <a:gd name="adj" fmla="val 2133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645920"/>
            <a:ext cx="3429000" cy="822960"/>
          </a:xfrm>
          <a:prstGeom prst="roundRect">
            <a:avLst>
              <a:gd name="adj" fmla="val 6667"/>
            </a:avLst>
          </a:prstGeom>
          <a:solidFill>
            <a:srgbClr val="13A89E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0" y="173736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 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29600" y="269748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organisation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75320" y="338328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· agile/MoSCoW · tests · Docker · CI/CD · Git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perspectives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Acquis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108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Application full-stack fonctionnelle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Sécurité conforme aux standards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Démarche de conception complète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Chaîne DevOps en place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EAF1F6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783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2240280"/>
            <a:ext cx="3108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 de jours fériés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Notifications e-mail non faites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Validation à un seul niveau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6002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0A1A2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76200" dist="25400" dir="5400000">
              <a:srgbClr val="B9C6D2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783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75320" y="224028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Notifications e-mail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Calendrier d'équipe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Jours fériés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 comptable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Application mobile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868680" y="3566160"/>
            <a:ext cx="2743200" cy="0"/>
          </a:xfrm>
          <a:prstGeom prst="line">
            <a:avLst/>
          </a:prstGeom>
          <a:noFill/>
          <a:ln w="38100">
            <a:solidFill>
              <a:srgbClr val="13A8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37490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F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à vos questions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CongésFlow · Démo : http://localhost:5173 · Dépôt : [lien GitHub]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2026-06-10T13:06:33Z</dcterms:created>
  <dcterms:modified xsi:type="dcterms:W3CDTF">2026-06-10T13:06:33Z</dcterms:modified>
</cp:coreProperties>
</file>